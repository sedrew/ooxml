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Relationship Id="rId9" Type="http://schemas.openxmlformats.org/officeDocument/2006/relationships/slide" Target="slides/slide4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Series 1</c:v>
          </c:tx>
          <c:spPr>
            <a:solidFill>
              <a:srgbClr val="B4C7E7"/>
            </a:solidFill>
          </c:spPr>
          <c:cat>
            <c:strLit>
              <c:ptCount val="5"/>
              <c:pt idx="0">
                <c:v>Unit A</c:v>
              </c:pt>
              <c:pt idx="1">
                <c:v>Unit B</c:v>
              </c:pt>
              <c:pt idx="2">
                <c:v>Unit C</c:v>
              </c:pt>
              <c:pt idx="3">
                <c:v>Unit D</c:v>
              </c:pt>
              <c:pt idx="4">
                <c:v>Benchmark</c:v>
              </c:pt>
            </c:strLit>
          </c:cat>
          <c:val>
            <c:numLit>
              <c:formatCode>General</c:formatCode>
              <c:ptCount val="5"/>
              <c:pt idx="0">
                <c:v>0.88</c:v>
              </c:pt>
              <c:pt idx="1">
                <c:v>0.46</c:v>
              </c:pt>
              <c:pt idx="2">
                <c:v>0.55</c:v>
              </c:pt>
              <c:pt idx="3">
                <c:v>0.73</c:v>
              </c:pt>
              <c:pt idx="4">
                <c:v>0.83</c:v>
              </c:pt>
            </c:numLit>
          </c:val>
        </c:ser>
        <c:ser>
          <c:idx val="1"/>
          <c:order val="1"/>
          <c:tx>
            <c:v>Series 2</c:v>
          </c:tx>
          <c:spPr>
            <a:gradFill rotWithShape="1">
              <a:gsLst>
                <a:gs pos="0">
                  <a:srgbClr val="003173"/>
                </a:gs>
                <a:gs pos="100000">
                  <a:srgbClr val="8FB4D9"/>
                </a:gs>
              </a:gsLst>
              <a:lin ang="0" scaled="0"/>
            </a:gradFill>
          </c:spPr>
          <c:cat>
            <c:strLit>
              <c:ptCount val="5"/>
              <c:pt idx="0">
                <c:v>Unit A</c:v>
              </c:pt>
              <c:pt idx="1">
                <c:v>Unit B</c:v>
              </c:pt>
              <c:pt idx="2">
                <c:v>Unit C</c:v>
              </c:pt>
              <c:pt idx="3">
                <c:v>Unit D</c:v>
              </c:pt>
              <c:pt idx="4">
                <c:v>Benchmark</c:v>
              </c:pt>
            </c:strLit>
          </c:cat>
          <c:val>
            <c:numLit>
              <c:formatCode>General</c:formatCode>
              <c:ptCount val="5"/>
              <c:pt idx="0">
                <c:v>0.76</c:v>
              </c:pt>
              <c:pt idx="1">
                <c:v>0.49</c:v>
              </c:pt>
              <c:pt idx="2">
                <c:v>0.64</c:v>
              </c:pt>
              <c:pt idx="3">
                <c:v>0.89</c:v>
              </c:pt>
              <c:pt idx="4">
                <c:v>0.75</c:v>
              </c:pt>
            </c:numLit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r"/>
      <c:overlay val="0"/>
    </c:legend>
    <c:plotVisOnly val="1"/>
    <c:dispBlanksAs val="gap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Series 1</c:v>
          </c:tx>
          <c:spPr>
            <a:solidFill>
              <a:srgbClr val="B4C7E7"/>
            </a:solidFill>
          </c:spPr>
          <c:cat>
            <c:strLit>
              <c:ptCount val="5"/>
              <c:pt idx="0">
                <c:v>Unit A</c:v>
              </c:pt>
              <c:pt idx="1">
                <c:v>Unit B</c:v>
              </c:pt>
              <c:pt idx="2">
                <c:v>Unit C</c:v>
              </c:pt>
              <c:pt idx="3">
                <c:v>Unit D</c:v>
              </c:pt>
              <c:pt idx="4">
                <c:v>Benchmark</c:v>
              </c:pt>
            </c:strLit>
          </c:cat>
          <c:val>
            <c:numLit>
              <c:formatCode>General</c:formatCode>
              <c:ptCount val="5"/>
              <c:pt idx="0">
                <c:v>0.88</c:v>
              </c:pt>
              <c:pt idx="1">
                <c:v>0.46</c:v>
              </c:pt>
              <c:pt idx="2">
                <c:v>0.55</c:v>
              </c:pt>
              <c:pt idx="3">
                <c:v>0.73</c:v>
              </c:pt>
              <c:pt idx="4">
                <c:v>0.83</c:v>
              </c:pt>
            </c:numLit>
          </c:val>
        </c:ser>
        <c:ser>
          <c:idx val="1"/>
          <c:order val="1"/>
          <c:tx>
            <c:v>Series 2</c:v>
          </c:tx>
          <c:spPr>
            <a:gradFill rotWithShape="1">
              <a:gsLst>
                <a:gs pos="0">
                  <a:srgbClr val="003173"/>
                </a:gs>
                <a:gs pos="100000">
                  <a:srgbClr val="8FB4D9"/>
                </a:gs>
              </a:gsLst>
              <a:lin ang="0" scaled="0"/>
            </a:gradFill>
          </c:spPr>
          <c:cat>
            <c:strLit>
              <c:ptCount val="5"/>
              <c:pt idx="0">
                <c:v>Unit A</c:v>
              </c:pt>
              <c:pt idx="1">
                <c:v>Unit B</c:v>
              </c:pt>
              <c:pt idx="2">
                <c:v>Unit C</c:v>
              </c:pt>
              <c:pt idx="3">
                <c:v>Unit D</c:v>
              </c:pt>
              <c:pt idx="4">
                <c:v>Benchmark</c:v>
              </c:pt>
            </c:strLit>
          </c:cat>
          <c:val>
            <c:numLit>
              <c:formatCode>General</c:formatCode>
              <c:ptCount val="5"/>
              <c:pt idx="0">
                <c:v>0.76</c:v>
              </c:pt>
              <c:pt idx="1">
                <c:v>0.49</c:v>
              </c:pt>
              <c:pt idx="2">
                <c:v>0.64</c:v>
              </c:pt>
              <c:pt idx="3">
                <c:v>0.89</c:v>
              </c:pt>
              <c:pt idx="4">
                <c:v>0.75</c:v>
              </c:pt>
            </c:numLit>
          </c:val>
        </c:ser>
        <c:gapWidth val="35"/>
        <c:overlap val="10"/>
        <c:axId val="111111111"/>
        <c:axId val="222222222"/>
      </c:barChart>
      <c:catAx>
        <c:axId val="111111111"/>
        <c:scaling>
          <c:orientation val="maxMin"/>
        </c:scaling>
        <c:delete val="1"/>
        <c:axPos val="b"/>
        <c:crossAx val="222222222"/>
      </c:catAx>
      <c:valAx>
        <c:axId val="222222222"/>
        <c:scaling>
          <c:orientation val="minMax"/>
          <c:max val="1"/>
          <c:min val="0"/>
        </c:scaling>
        <c:delete val="1"/>
        <c:axPos val="l"/>
        <c:crossAx val="111111111"/>
      </c:valAx>
      <c:spPr>
        <a:noFill/>
        <a:ln>
          <a:noFill/>
        </a:ln>
      </c:spPr>
    </c:plotArea>
    <c:legend>
      <c:legendPos val="r"/>
      <c:overlay val="0"/>
    </c:legend>
    <c:plotVisOnly val="1"/>
    <c:dispBlanksAs val="gap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doughnutChart>
        <c:varyColors val="1"/>
        <c:ser>
          <c:idx val="0"/>
          <c:order val="0"/>
          <c:tx>
            <c:v>N</c:v>
          </c:tx>
          <c:cat>
            <c:strLit>
              <c:ptCount val="4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</c:strLit>
          </c:cat>
          <c:val>
            <c:numLit>
              <c:formatCode>General</c:formatCode>
              <c:ptCount val="4"/>
              <c:pt idx="0">
                <c:v>45</c:v>
              </c:pt>
              <c:pt idx="1">
                <c:v>25</c:v>
              </c:pt>
              <c:pt idx="2">
                <c:v>20</c:v>
              </c:pt>
              <c:pt idx="3">
                <c:v>10</c:v>
              </c:pt>
            </c:numLit>
          </c:val>
        </c:ser>
        <c:holeSize val="50"/>
      </c:doughnutChart>
    </c:plotArea>
    <c:legend>
      <c:legendPos val="r"/>
      <c:overlay val="0"/>
    </c:legend>
    <c:plotVisOnly val="1"/>
    <c:dispBlanksAs val="gap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doughnutChart>
        <c:varyColors val="1"/>
        <c:ser>
          <c:idx val="0"/>
          <c:order val="0"/>
          <c:tx>
            <c:v>N</c:v>
          </c:tx>
          <c:cat>
            <c:strLit>
              <c:ptCount val="4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</c:strLit>
          </c:cat>
          <c:val>
            <c:numLit>
              <c:formatCode>General</c:formatCode>
              <c:ptCount val="4"/>
              <c:pt idx="0">
                <c:v>45</c:v>
              </c:pt>
              <c:pt idx="1">
                <c:v>25</c:v>
              </c:pt>
              <c:pt idx="2">
                <c:v>20</c:v>
              </c:pt>
              <c:pt idx="3">
                <c:v>10</c:v>
              </c:pt>
            </c:numLit>
          </c:val>
        </c:ser>
        <c:firstSliceAng val="90"/>
        <c:holeSize val="20"/>
      </c:doughnutChart>
    </c:plotArea>
    <c:legend>
      <c:legendPos val="r"/>
      <c:overlay val="0"/>
    </c:legend>
    <c:plotVisOnly val="1"/>
    <c:dispBlanksAs val="gap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pieChart>
        <c:varyColors val="1"/>
        <c:ser>
          <c:idx val="0"/>
          <c:order val="0"/>
          <c:tx>
            <c:v>S</c:v>
          </c:tx>
          <c:cat>
            <c:strLit>
              <c:ptCount val="3"/>
              <c:pt idx="0">
                <c:v>X</c:v>
              </c:pt>
              <c:pt idx="1">
                <c:v>Y</c:v>
              </c:pt>
              <c:pt idx="2">
                <c:v>Z</c:v>
              </c:pt>
            </c:strLit>
          </c:cat>
          <c:val>
            <c:numLit>
              <c:formatCode>General</c:formatCode>
              <c:ptCount val="3"/>
              <c:pt idx="0">
                <c:v>5</c:v>
              </c:pt>
              <c:pt idx="1">
                <c:v>3</c:v>
              </c:pt>
              <c:pt idx="2">
                <c:v>2</c:v>
              </c:pt>
            </c:numLit>
          </c:val>
        </c:ser>
      </c:pieChart>
    </c:plotArea>
    <c:legend>
      <c:legendPos val="r"/>
      <c:overlay val="0"/>
    </c:legend>
    <c:plotVisOnly val="1"/>
    <c:dispBlanksAs val="gap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v>S</c:v>
          </c:tx>
          <c:cat>
            <c:strLit>
              <c:ptCount val="3"/>
              <c:pt idx="0">
                <c:v>X</c:v>
              </c:pt>
              <c:pt idx="1">
                <c:v>Y</c:v>
              </c:pt>
              <c:pt idx="2">
                <c:v>Z</c:v>
              </c:pt>
            </c:strLit>
          </c:cat>
          <c:val>
            <c:numLit>
              <c:formatCode>General</c:formatCode>
              <c:ptCount val="3"/>
              <c:pt idx="0">
                <c:v>5</c:v>
              </c:pt>
              <c:pt idx="1">
                <c:v>3</c:v>
              </c:pt>
              <c:pt idx="2">
                <c:v>2</c:v>
              </c:pt>
            </c:numLit>
          </c:val>
        </c:ser>
        <c:firstSliceAng val="270"/>
      </c:pieChart>
      <c:spPr>
        <a:noFill/>
      </c:spPr>
    </c:plotArea>
    <c:legend>
      <c:legendPos val="r"/>
      <c:overlay val="0"/>
    </c:legend>
    <c:plotVisOnly val="1"/>
    <c:dispBlanksAs val="gap"/>
  </c:chart>
  <c:spPr>
    <a:gradFill rotWithShape="1">
      <a:gsLst>
        <a:gs pos="0">
          <a:srgbClr val="FFFFFF"/>
        </a:gs>
        <a:gs pos="100000">
          <a:srgbClr val="BDD7EE"/>
        </a:gs>
      </a:gsLst>
      <a:lin ang="5400000" scaled="0"/>
    </a:gradFill>
    <a:ln>
      <a:solidFill>
        <a:srgbClr val="1F4E79"/>
      </a:solidFill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>
              <a:srgbClr val="B4C7E7"/>
            </a:solidFill>
          </c:spPr>
          <c:cat>
            <c:strLit>
              <c:ptCount val="5"/>
              <c:pt idx="0">
                <c:v>Unit A</c:v>
              </c:pt>
              <c:pt idx="1">
                <c:v>Unit B</c:v>
              </c:pt>
              <c:pt idx="2">
                <c:v>Unit C</c:v>
              </c:pt>
              <c:pt idx="3">
                <c:v>Unit D</c:v>
              </c:pt>
              <c:pt idx="4">
                <c:v>Benchmark</c:v>
              </c:pt>
            </c:strLit>
          </c:cat>
          <c:val>
            <c:numLit>
              <c:formatCode>General</c:formatCode>
              <c:ptCount val="5"/>
              <c:pt idx="0">
                <c:v>0.88</c:v>
              </c:pt>
              <c:pt idx="1">
                <c:v>0.46</c:v>
              </c:pt>
              <c:pt idx="2">
                <c:v>0.55</c:v>
              </c:pt>
              <c:pt idx="3">
                <c:v>0.73</c:v>
              </c:pt>
              <c:pt idx="4">
                <c:v>0.83</c:v>
              </c:pt>
            </c:numLit>
          </c:val>
        </c:ser>
        <c:ser>
          <c:idx val="1"/>
          <c:order val="1"/>
          <c:tx>
            <c:v>Series 2</c:v>
          </c:tx>
          <c:spPr>
            <a:gradFill rotWithShape="1">
              <a:gsLst>
                <a:gs pos="0">
                  <a:srgbClr val="003173"/>
                </a:gs>
                <a:gs pos="100000">
                  <a:srgbClr val="8FB4D9"/>
                </a:gs>
              </a:gsLst>
              <a:lin ang="0" scaled="0"/>
            </a:gradFill>
          </c:spPr>
          <c:cat>
            <c:strLit>
              <c:ptCount val="5"/>
              <c:pt idx="0">
                <c:v>Unit A</c:v>
              </c:pt>
              <c:pt idx="1">
                <c:v>Unit B</c:v>
              </c:pt>
              <c:pt idx="2">
                <c:v>Unit C</c:v>
              </c:pt>
              <c:pt idx="3">
                <c:v>Unit D</c:v>
              </c:pt>
              <c:pt idx="4">
                <c:v>Benchmark</c:v>
              </c:pt>
            </c:strLit>
          </c:cat>
          <c:val>
            <c:numLit>
              <c:formatCode>General</c:formatCode>
              <c:ptCount val="5"/>
              <c:pt idx="0">
                <c:v>0.76</c:v>
              </c:pt>
              <c:pt idx="1">
                <c:v>0.49</c:v>
              </c:pt>
              <c:pt idx="2">
                <c:v>0.64</c:v>
              </c:pt>
              <c:pt idx="3">
                <c:v>0.89</c:v>
              </c:pt>
              <c:pt idx="4">
                <c:v>0.75</c:v>
              </c:pt>
            </c:numLit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r"/>
      <c:overlay val="0"/>
    </c:legend>
    <c:plotVisOnly val="1"/>
    <c:dispBlanksAs val="gap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>
              <a:srgbClr val="B4C7E7"/>
            </a:solidFill>
          </c:spPr>
          <c:dPt>
            <c:idx val="4"/>
            <c:spPr>
              <a:gradFill rotWithShape="1">
                <a:gsLst>
                  <a:gs pos="0">
                    <a:srgbClr val="FFFFFF"/>
                  </a:gs>
                  <a:gs pos="100000">
                    <a:srgbClr val="C00000"/>
                  </a:gs>
                </a:gsLst>
                <a:path path="circle">
                  <a:fillToRect l="50000" t="50000" r="50000" b="50000"/>
                </a:path>
              </a:gradFill>
            </c:spPr>
          </c:dPt>
          <c:cat>
            <c:strLit>
              <c:ptCount val="5"/>
              <c:pt idx="0">
                <c:v>Unit A</c:v>
              </c:pt>
              <c:pt idx="1">
                <c:v>Unit B</c:v>
              </c:pt>
              <c:pt idx="2">
                <c:v>Unit C</c:v>
              </c:pt>
              <c:pt idx="3">
                <c:v>Unit D</c:v>
              </c:pt>
              <c:pt idx="4">
                <c:v>Benchmark</c:v>
              </c:pt>
            </c:strLit>
          </c:cat>
          <c:val>
            <c:numLit>
              <c:formatCode>General</c:formatCode>
              <c:ptCount val="5"/>
              <c:pt idx="0">
                <c:v>0.88</c:v>
              </c:pt>
              <c:pt idx="1">
                <c:v>0.46</c:v>
              </c:pt>
              <c:pt idx="2">
                <c:v>0.55</c:v>
              </c:pt>
              <c:pt idx="3">
                <c:v>0.73</c:v>
              </c:pt>
              <c:pt idx="4">
                <c:v>0.83</c:v>
              </c:pt>
            </c:numLit>
          </c:val>
        </c:ser>
        <c:ser>
          <c:idx val="1"/>
          <c:order val="1"/>
          <c:tx>
            <c:v>Series 2</c:v>
          </c:tx>
          <c:spPr>
            <a:gradFill rotWithShape="1">
              <a:gsLst>
                <a:gs pos="0">
                  <a:srgbClr val="003173"/>
                </a:gs>
                <a:gs pos="100000">
                  <a:srgbClr val="8FB4D9"/>
                </a:gs>
              </a:gsLst>
              <a:lin ang="0" scaled="0"/>
            </a:gradFill>
          </c:spPr>
          <c:cat>
            <c:strLit>
              <c:ptCount val="5"/>
              <c:pt idx="0">
                <c:v>Unit A</c:v>
              </c:pt>
              <c:pt idx="1">
                <c:v>Unit B</c:v>
              </c:pt>
              <c:pt idx="2">
                <c:v>Unit C</c:v>
              </c:pt>
              <c:pt idx="3">
                <c:v>Unit D</c:v>
              </c:pt>
              <c:pt idx="4">
                <c:v>Benchmark</c:v>
              </c:pt>
            </c:strLit>
          </c:cat>
          <c:val>
            <c:numLit>
              <c:formatCode>General</c:formatCode>
              <c:ptCount val="5"/>
              <c:pt idx="0">
                <c:v>0.76</c:v>
              </c:pt>
              <c:pt idx="1">
                <c:v>0.49</c:v>
              </c:pt>
              <c:pt idx="2">
                <c:v>0.64</c:v>
              </c:pt>
              <c:pt idx="3">
                <c:v>0.89</c:v>
              </c:pt>
              <c:pt idx="4">
                <c:v>0.75</c:v>
              </c:pt>
            </c:numLit>
          </c:val>
        </c:ser>
        <c:gapWidth val="60"/>
        <c:overlap val="-2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1"/>
        <c:axPos val="l"/>
        <c:crossAx val="111111111"/>
      </c:valAx>
      <c:spPr>
        <a:solidFill>
          <a:srgbClr val="FFFFFF"/>
        </a:solidFill>
        <a:ln>
          <a:solidFill>
            <a:srgbClr val="9CA3AF"/>
          </a:solidFill>
        </a:ln>
      </c:spPr>
    </c:plotArea>
    <c:legend>
      <c:legendPos val="r"/>
      <c:overlay val="0"/>
    </c:legend>
    <c:plotVisOnly val="1"/>
    <c:dispBlanksAs val="gap"/>
  </c:chart>
  <c:spPr>
    <a:noFill/>
    <a:ln>
      <a:noFill/>
    </a:ln>
  </c:spPr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.xml"></Relationship><Relationship Id="rId3" Type="http://schemas.openxmlformats.org/officeDocument/2006/relationships/chart" Target="../charts/chart2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3.xml"></Relationship><Relationship Id="rId3" Type="http://schemas.openxmlformats.org/officeDocument/2006/relationships/chart" Target="../charts/chart4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5.xml"></Relationship><Relationship Id="rId3" Type="http://schemas.openxmlformats.org/officeDocument/2006/relationships/chart" Target="../charts/chart6.xml"></Relationship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7.xml"></Relationship><Relationship Id="rId3" Type="http://schemas.openxmlformats.org/officeDocument/2006/relationships/chart" Target="../charts/chart8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CE6F2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430000" cy="476250"/>
          </a:xfrm>
          <a:prstGeom prst="rect">
            <a:avLst/>
          </a:prstGeom>
        </p:spPr>
        <p:txBody>
          <a:bodyPr wrap="square"/>
          <a:lstStyle/>
          <a:p>
            <a:r>
              <a:rPr lang="en-US" sz="1950" b="1" dirty="0">
                <a:solidFill>
                  <a:srgbClr val="1F2937"/>
                </a:solidFill>
              </a:rPr>
              <a:t>Bar: gapWidth, overlap, hidden axes, transparent chart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66750"/>
            <a:ext cx="55245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1050" dirty="0">
                <a:solidFill>
                  <a:srgbClr val="374151"/>
                </a:solidFill>
              </a:rPr>
              <a:t>Before: fields ignored (gapWidth 150, no overlap, axes shown, no area spPr, no roundedCorners)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666750"/>
            <a:ext cx="55245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1050" dirty="0">
                <a:solidFill>
                  <a:srgbClr val="374151"/>
                </a:solidFill>
              </a:rPr>
              <a:t>After: gapWidth 35, overlap 10, axes hidden (catAx maxMin, valAx 0..1), chart/plot area noFill + ln noFill, roundedCorners 0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="381000" y="1333500"/>
          <a:ext cx="5524500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"/>
          <p:cNvGraphicFramePr/>
          <p:nvPr/>
        </p:nvGraphicFramePr>
        <p:xfrm>
          <a:off x="6286500" y="1333500"/>
          <a:ext cx="5524500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CE6F2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TextBox 6"/>
          <p:cNvSpPr txBox="1"/>
          <p:nvPr/>
        </p:nvSpPr>
        <p:spPr>
          <a:xfrm>
            <a:off x="381000" y="152400"/>
            <a:ext cx="11430000" cy="476250"/>
          </a:xfrm>
          <a:prstGeom prst="rect">
            <a:avLst/>
          </a:prstGeom>
        </p:spPr>
        <p:txBody>
          <a:bodyPr wrap="square"/>
          <a:lstStyle/>
          <a:p>
            <a:r>
              <a:rPr lang="en-US" sz="1950" b="1" dirty="0">
                <a:solidFill>
                  <a:srgbClr val="1F2937"/>
                </a:solidFill>
              </a:rPr>
              <a:t>Doughnut: firstSliceAng and holeSize</a:t>
            </a:r>
          </a:p>
        </p:txBody>
      </p:sp>
      <p:sp>
        <p:nvSpPr>
          <p:cNvPr id="4" name="TextBox 7"/>
          <p:cNvSpPr txBox="1"/>
          <p:nvPr/>
        </p:nvSpPr>
        <p:spPr>
          <a:xfrm>
            <a:off x="381000" y="666750"/>
            <a:ext cx="55245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1050" dirty="0">
                <a:solidFill>
                  <a:srgbClr val="374151"/>
                </a:solidFill>
              </a:rPr>
              <a:t>Before: holeSize always 50, firstSliceAng never written (0)</a:t>
            </a:r>
          </a:p>
        </p:txBody>
      </p:sp>
      <p:sp>
        <p:nvSpPr>
          <p:cNvPr id="5" name="TextBox 8"/>
          <p:cNvSpPr txBox="1"/>
          <p:nvPr/>
        </p:nvSpPr>
        <p:spPr>
          <a:xfrm>
            <a:off x="6286500" y="666750"/>
            <a:ext cx="55245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1050" dirty="0">
                <a:solidFill>
                  <a:srgbClr val="374151"/>
                </a:solidFill>
              </a:rPr>
              <a:t>After: firstSliceAngle 90, holeSize 20, no border, square corners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="381000" y="1333500"/>
          <a:ext cx="5524500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"/>
          <p:cNvGraphicFramePr/>
          <p:nvPr/>
        </p:nvGraphicFramePr>
        <p:xfrm>
          <a:off x="6286500" y="1333500"/>
          <a:ext cx="5524500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CE6F2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TextBox 10"/>
          <p:cNvSpPr txBox="1"/>
          <p:nvPr/>
        </p:nvSpPr>
        <p:spPr>
          <a:xfrm>
            <a:off x="381000" y="152400"/>
            <a:ext cx="11430000" cy="476250"/>
          </a:xfrm>
          <a:prstGeom prst="rect">
            <a:avLst/>
          </a:prstGeom>
        </p:spPr>
        <p:txBody>
          <a:bodyPr wrap="square"/>
          <a:lstStyle/>
          <a:p>
            <a:r>
              <a:rPr lang="en-US" sz="1950" b="1" dirty="0">
                <a:solidFill>
                  <a:srgbClr val="1F2937"/>
                </a:solidFill>
              </a:rPr>
              <a:t>Pie: chart-area gradient fill and border</a:t>
            </a:r>
          </a:p>
        </p:txBody>
      </p:sp>
      <p:sp>
        <p:nvSpPr>
          <p:cNvPr id="4" name="TextBox 11"/>
          <p:cNvSpPr txBox="1"/>
          <p:nvPr/>
        </p:nvSpPr>
        <p:spPr>
          <a:xfrm>
            <a:off x="381000" y="666750"/>
            <a:ext cx="55245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1050" dirty="0">
                <a:solidFill>
                  <a:srgbClr val="374151"/>
                </a:solidFill>
              </a:rPr>
              <a:t>Before: chart-area spPr never written</a:t>
            </a:r>
          </a:p>
        </p:txBody>
      </p:sp>
      <p:sp>
        <p:nvSpPr>
          <p:cNvPr id="5" name="TextBox 12"/>
          <p:cNvSpPr txBox="1"/>
          <p:nvPr/>
        </p:nvSpPr>
        <p:spPr>
          <a:xfrm>
            <a:off x="6286500" y="666750"/>
            <a:ext cx="55245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1050" dirty="0">
                <a:solidFill>
                  <a:srgbClr val="374151"/>
                </a:solidFill>
              </a:rPr>
              <a:t>After: chart-area gradient + #1F4E79 border, firstSliceAngle 270, plot area noFill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="381000" y="1333500"/>
          <a:ext cx="5524500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"/>
          <p:cNvGraphicFramePr/>
          <p:nvPr/>
        </p:nvGraphicFramePr>
        <p:xfrm>
          <a:off x="6286500" y="1333500"/>
          <a:ext cx="5524500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CE6F2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TextBox 14"/>
          <p:cNvSpPr txBox="1"/>
          <p:nvPr/>
        </p:nvSpPr>
        <p:spPr>
          <a:xfrm>
            <a:off x="381000" y="152400"/>
            <a:ext cx="11430000" cy="476250"/>
          </a:xfrm>
          <a:prstGeom prst="rect">
            <a:avLst/>
          </a:prstGeom>
        </p:spPr>
        <p:txBody>
          <a:bodyPr wrap="square"/>
          <a:lstStyle/>
          <a:p>
            <a:r>
              <a:rPr lang="en-US" sz="1950" b="1" dirty="0">
                <a:solidFill>
                  <a:srgbClr val="1F2937"/>
                </a:solidFill>
              </a:rPr>
              <a:t>Loaded chart: edited with setChart* after reload</a:t>
            </a:r>
          </a:p>
        </p:txBody>
      </p:sp>
      <p:sp>
        <p:nvSpPr>
          <p:cNvPr id="4" name="TextBox 15"/>
          <p:cNvSpPr txBox="1"/>
          <p:nvPr/>
        </p:nvSpPr>
        <p:spPr>
          <a:xfrm>
            <a:off x="381000" y="666750"/>
            <a:ext cx="55245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1050" dirty="0">
                <a:solidFill>
                  <a:srgbClr val="374151"/>
                </a:solidFill>
              </a:rPr>
              <a:t>Left: saved and reloaded without edits (chart part unchanged)</a:t>
            </a:r>
          </a:p>
        </p:txBody>
      </p:sp>
      <p:sp>
        <p:nvSpPr>
          <p:cNvPr id="5" name="TextBox 16"/>
          <p:cNvSpPr txBox="1"/>
          <p:nvPr/>
        </p:nvSpPr>
        <p:spPr>
          <a:xfrm>
            <a:off x="6286500" y="666750"/>
            <a:ext cx="55245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1050" dirty="0">
                <a:solidFill>
                  <a:srgbClr val="374151"/>
                </a:solidFill>
              </a:rPr>
              <a:t>Right: same chart after setChartGroupOptions, setChartAreaFormat, setChartAxis({ visible: false })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="381000" y="1333500"/>
          <a:ext cx="5524500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"/>
          <p:cNvGraphicFramePr/>
          <p:nvPr/>
        </p:nvGraphicFramePr>
        <p:xfrm>
          <a:off x="6286500" y="1333500"/>
          <a:ext cx="5524500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4</Slides>
  <ScaleCrop>false</ScaleCrop>
  <LinksUpToDate>false</LinksUpToDate>
  <SharedDoc>false</SharedDoc>
  <HyperlinksChanged>false</HyperlinksChanged>
  <AppVersion>1.0000</AppVersion>
  <HiddenSlides>0</HiddenSlides>
  <Notes>0</Notes>
  <Words>157</Words>
  <Paragraphs>12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pptx-viewer-sdk</dc:creator>
  <cp:lastModifiedBy>pptx-viewer-sdk</cp:lastModifiedBy>
  <cp:revision>3</cp:revision>
  <dcterms:created xsi:type="dcterms:W3CDTF">2026-10-05T14:30:31Z</dcterms:created>
  <dcterms:modified xsi:type="dcterms:W3CDTF">2026-10-05T14:30:31Z</dcterms:modified>
</cp:coreProperties>
</file>