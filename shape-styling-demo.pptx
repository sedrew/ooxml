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85750"/>
            <a:ext cx="11049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>
                <a:solidFill>
                  <a:srgbClr val="1F2937"/>
                </a:solidFill>
              </a:rPr>
              <a:t>Effects: glow, inner shadow, soft edge, reflection</a:t>
            </a:r>
          </a:p>
        </p:txBody>
      </p:sp>
      <p:sp>
        <p:nvSpPr>
          <p:cNvPr id="3" name="Rectangle 2"/>
          <p:cNvSpPr txBox="0"/>
          <p:nvPr/>
        </p:nvSpPr>
        <p:spPr>
          <a:xfrm>
            <a:off x="762000" y="1619250"/>
            <a:ext cx="1905000" cy="1905000"/>
          </a:xfrm>
          <a:prstGeom prst="roundRect">
            <a:avLst/>
          </a:prstGeom>
          <a:solidFill>
            <a:srgbClr val="2563EB"/>
          </a:solidFill>
          <a:effectLst>
            <a:glow rad="171450">
              <a:srgbClr val="F59E0B">
                <a:alpha val="70000"/>
              </a:srgbClr>
            </a:glow>
          </a:effectLst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glow: { color: '#F59E0B', radius: 18, opacity: 0.7 }</a:t>
            </a:r>
          </a:p>
        </p:txBody>
      </p:sp>
      <p:sp>
        <p:nvSpPr>
          <p:cNvPr id="5" name="Rectangle 4"/>
          <p:cNvSpPr txBox="0"/>
          <p:nvPr/>
        </p:nvSpPr>
        <p:spPr>
          <a:xfrm>
            <a:off x="3619500" y="1619250"/>
            <a:ext cx="1905000" cy="1905000"/>
          </a:xfrm>
          <a:prstGeom prst="ellipse">
            <a:avLst/>
          </a:prstGeom>
          <a:solidFill>
            <a:srgbClr val="E5E7EB"/>
          </a:solidFill>
          <a:effectLst>
            <a:innerShdw blurRad="133350" dist="107763" dir="13500000">
              <a:srgbClr val="000000">
                <a:alpha val="60000"/>
              </a:srgbClr>
            </a:innerShdw>
          </a:effectLst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innerShadow: { offsetX: -8, offsetY: -8, blur: 14, opacity: 0.6 }</a:t>
            </a:r>
          </a:p>
        </p:txBody>
      </p:sp>
      <p:sp>
        <p:nvSpPr>
          <p:cNvPr id="7" name="Rectangle 6"/>
          <p:cNvSpPr txBox="0"/>
          <p:nvPr/>
        </p:nvSpPr>
        <p:spPr>
          <a:xfrm>
            <a:off x="6477000" y="1619250"/>
            <a:ext cx="1905000" cy="1905000"/>
          </a:xfrm>
          <a:prstGeom prst="rect">
            <a:avLst/>
          </a:prstGeom>
          <a:solidFill>
            <a:srgbClr val="10B981"/>
          </a:solidFill>
          <a:effectLst>
            <a:softEdge rad="152400"/>
          </a:effectLst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softEdge: 16</a:t>
            </a:r>
          </a:p>
        </p:txBody>
      </p:sp>
      <p:sp>
        <p:nvSpPr>
          <p:cNvPr id="9" name="Rectangle 8"/>
          <p:cNvSpPr txBox="0"/>
          <p:nvPr/>
        </p:nvSpPr>
        <p:spPr>
          <a:xfrm>
            <a:off x="9334500" y="1428750"/>
            <a:ext cx="1905000" cy="1714500"/>
          </a:xfrm>
          <a:prstGeom prst="star5">
            <a:avLst/>
          </a:prstGeom>
          <a:solidFill>
            <a:srgbClr val="DC2626"/>
          </a:solidFill>
          <a:effectLst>
            <a:reflection blurRad="9525" stA="50000" endA="0" endPos="60000" dir="5400000" sy="-100000" dist="38100" algn="bl" rotWithShape="0"/>
          </a:effectLst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reflection: { blur: 1, distance: 4, startOpacity: 0.5, endPosition: 0.6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/>
          <p:nvPr/>
        </p:nvSpPr>
        <p:spPr>
          <a:xfrm>
            <a:off x="571500" y="285750"/>
            <a:ext cx="11049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>
                <a:solidFill>
                  <a:srgbClr val="1F2937"/>
                </a:solidFill>
              </a:rPr>
              <a:t>Outlines: exact dashes, compound lines, alignment, line ends</a:t>
            </a:r>
          </a:p>
        </p:txBody>
      </p:sp>
      <p:sp>
        <p:nvSpPr>
          <p:cNvPr id="3" name="Rectangle 11"/>
          <p:cNvSpPr txBox="0"/>
          <p:nvPr/>
        </p:nvSpPr>
        <p:spPr>
          <a:xfrm>
            <a:off x="762000" y="1619250"/>
            <a:ext cx="1905000" cy="1524000"/>
          </a:xfrm>
          <a:prstGeom prst="rect">
            <a:avLst/>
          </a:prstGeom>
          <a:noFill/>
          <a:ln w="38100">
            <a:solidFill>
              <a:srgbClr val="111827"/>
            </a:solidFill>
            <a:custDash>
              <a:ds d="300000" sp="100000"/>
              <a:ds d="50000" sp="100000"/>
            </a:custDash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" name="TextBox 12"/>
          <p:cNvSpPr txBox="1"/>
          <p:nvPr/>
        </p:nvSpPr>
        <p:spPr>
          <a:xfrm>
            <a:off x="571500" y="3619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dash: [12, 4, 2, 4], width: 4</a:t>
            </a:r>
          </a:p>
        </p:txBody>
      </p:sp>
      <p:sp>
        <p:nvSpPr>
          <p:cNvPr id="5" name="Rectangle 13"/>
          <p:cNvSpPr txBox="0"/>
          <p:nvPr/>
        </p:nvSpPr>
        <p:spPr>
          <a:xfrm>
            <a:off x="3619500" y="1619250"/>
            <a:ext cx="1905000" cy="1524000"/>
          </a:xfrm>
          <a:prstGeom prst="rect">
            <a:avLst/>
          </a:prstGeom>
          <a:solidFill>
            <a:srgbClr val="DBEAFE"/>
          </a:solidFill>
          <a:ln w="95250" cmpd="thickThin">
            <a:solidFill>
              <a:srgbClr val="1D4ED8"/>
            </a:solidFill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TextBox 14"/>
          <p:cNvSpPr txBox="1"/>
          <p:nvPr/>
        </p:nvSpPr>
        <p:spPr>
          <a:xfrm>
            <a:off x="3429000" y="3619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compound: 'thickThin', width: 10</a:t>
            </a:r>
          </a:p>
        </p:txBody>
      </p:sp>
      <p:sp>
        <p:nvSpPr>
          <p:cNvPr id="7" name="Rectangle 15"/>
          <p:cNvSpPr txBox="0"/>
          <p:nvPr/>
        </p:nvSpPr>
        <p:spPr>
          <a:xfrm>
            <a:off x="6477000" y="1619250"/>
            <a:ext cx="1905000" cy="1524000"/>
          </a:xfrm>
          <a:prstGeom prst="rect">
            <a:avLst/>
          </a:prstGeom>
          <a:solidFill>
            <a:srgbClr val="FDE68A"/>
          </a:solidFill>
          <a:ln w="133350" algn="in">
            <a:solidFill>
              <a:srgbClr val="B45309"/>
            </a:solidFill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TextBox 16"/>
          <p:cNvSpPr txBox="1"/>
          <p:nvPr/>
        </p:nvSpPr>
        <p:spPr>
          <a:xfrm>
            <a:off x="6286500" y="3619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align: 'in', width: 14</a:t>
            </a:r>
          </a:p>
        </p:txBody>
      </p:sp>
      <p:sp>
        <p:nvSpPr>
          <p:cNvPr id="9" name="Rectangle 17"/>
          <p:cNvSpPr txBox="0"/>
          <p:nvPr/>
        </p:nvSpPr>
        <p:spPr>
          <a:xfrm>
            <a:off x="9429750" y="1714500"/>
            <a:ext cx="1714500" cy="1333500"/>
          </a:xfrm>
          <a:custGeom>
            <a:avLst/>
            <a:gdLst/>
            <a:ahLst/>
            <a:cxnLst/>
            <a:rect l="l" t="t" r="r" b="b"/>
            <a:pathLst>
              <a:path w="180" h="140">
                <a:moveTo>
                  <a:pt x="0" y="140"/>
                </a:moveTo>
                <a:lnTo>
                  <a:pt x="60" y="0"/>
                </a:lnTo>
                <a:lnTo>
                  <a:pt x="120" y="140"/>
                </a:lnTo>
                <a:lnTo>
                  <a:pt x="180" y="0"/>
                </a:lnTo>
              </a:path>
            </a:pathLst>
          </a:custGeom>
          <a:noFill/>
          <a:ln w="47625">
            <a:solidFill>
              <a:srgbClr val="7C3AED"/>
            </a:solidFill>
            <a:round/>
            <a:headEnd type="oval" w="med" len="med"/>
            <a:tailEnd type="triangle" w="lg" len="lg"/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TextBox 18"/>
          <p:cNvSpPr txBox="1"/>
          <p:nvPr/>
        </p:nvSpPr>
        <p:spPr>
          <a:xfrm>
            <a:off x="9144000" y="3619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join: 'round', headEnd: oval, tailEnd: triangle</a:t>
            </a:r>
          </a:p>
        </p:txBody>
      </p:sp>
      <p:sp>
        <p:nvSpPr>
          <p:cNvPr id="11" name="Rectangle 19"/>
          <p:cNvSpPr txBox="0"/>
          <p:nvPr/>
        </p:nvSpPr>
        <p:spPr>
          <a:xfrm>
            <a:off x="952500" y="4572000"/>
            <a:ext cx="1524000" cy="1524000"/>
          </a:xfrm>
          <a:prstGeom prst="arc">
            <a:avLst/>
          </a:prstGeom>
          <a:noFill/>
          <a:ln w="38100">
            <a:solidFill>
              <a:srgbClr val="059669"/>
            </a:solidFill>
            <a:tailEnd type="stealth" w="lg" len="lg"/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2" name="TextBox 20"/>
          <p:cNvSpPr txBox="1"/>
          <p:nvPr/>
        </p:nvSpPr>
        <p:spPr>
          <a:xfrm>
            <a:off x="571500" y="619125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preset arc with tailEnd: stealth</a:t>
            </a:r>
          </a:p>
        </p:txBody>
      </p:sp>
      <p:cxnSp>
        <p:nvCxnSpPr>
          <p:cNvPr id="13" name="Connector 21"/>
          <p:cNvCxnSpPr/>
          <p:nvPr/>
        </p:nvCxnSpPr>
        <p:spPr>
          <a:xfrm>
            <a:off x="3619500" y="5334000"/>
            <a:ext cx="1905000" cy="0"/>
          </a:xfrm>
          <a:prstGeom prst="straightConnector1">
            <a:avLst/>
          </a:prstGeom>
          <a:ln w="28575">
            <a:solidFill>
              <a:srgbClr val="111827"/>
            </a:solidFill>
            <a:custDash>
              <a:ds d="266667" sp="100000"/>
            </a:custDash>
            <a:headEnd type="diamond"/>
            <a:tailEnd type="arrow"/>
          </a:ln>
        </p:spPr>
      </p:cxnSp>
      <p:sp>
        <p:nvSpPr>
          <p:cNvPr id="14" name="TextBox 22"/>
          <p:cNvSpPr txBox="1"/>
          <p:nvPr/>
        </p:nvSpPr>
        <p:spPr>
          <a:xfrm>
            <a:off x="3429000" y="619125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connector ends from the stroke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/>
          <p:cNvSpPr txBox="1"/>
          <p:nvPr/>
        </p:nvSpPr>
        <p:spPr>
          <a:xfrm>
            <a:off x="571500" y="285750"/>
            <a:ext cx="11049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>
                <a:solidFill>
                  <a:srgbClr val="1F2937"/>
                </a:solidFill>
              </a:rPr>
              <a:t>Fills: path gradients, focus, tiling, pattern foreground</a:t>
            </a:r>
          </a:p>
        </p:txBody>
      </p:sp>
      <p:sp>
        <p:nvSpPr>
          <p:cNvPr id="3" name="Rectangle 24"/>
          <p:cNvSpPr txBox="0"/>
          <p:nvPr/>
        </p:nvSpPr>
        <p:spPr>
          <a:xfrm>
            <a:off x="762000" y="1619250"/>
            <a:ext cx="1905000" cy="1905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1E3A8A"/>
              </a:gs>
            </a:gsLst>
            <a:path path="circle">
              <a:fillToRect l="50000" t="50000" r="50000" b="50000"/>
            </a:path>
          </a:gra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4" name="TextBox 25"/>
          <p:cNvSpPr txBox="1"/>
          <p:nvPr/>
        </p:nvSpPr>
        <p:spPr>
          <a:xfrm>
            <a:off x="5715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path: 'circle', focus: centre</a:t>
            </a:r>
          </a:p>
        </p:txBody>
      </p:sp>
      <p:sp>
        <p:nvSpPr>
          <p:cNvPr id="5" name="Rectangle 26"/>
          <p:cNvSpPr txBox="0"/>
          <p:nvPr/>
        </p:nvSpPr>
        <p:spPr>
          <a:xfrm>
            <a:off x="3619500" y="1619250"/>
            <a:ext cx="1905000" cy="1905000"/>
          </a:xfrm>
          <a:prstGeom prst="rect">
            <a:avLst/>
          </a:prstGeom>
          <a:gradFill>
            <a:gsLst>
              <a:gs pos="0">
                <a:srgbClr val="FEF3C7"/>
              </a:gs>
              <a:gs pos="100000">
                <a:srgbClr val="B91C1C"/>
              </a:gs>
            </a:gsLst>
            <a:path path="rect">
              <a:fillToRect l="0" t="0" r="100000" b="100000"/>
            </a:path>
          </a:gra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6" name="TextBox 27"/>
          <p:cNvSpPr txBox="1"/>
          <p:nvPr/>
        </p:nvSpPr>
        <p:spPr>
          <a:xfrm>
            <a:off x="34290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path: 'rect', focus: top-left corner</a:t>
            </a:r>
          </a:p>
        </p:txBody>
      </p:sp>
      <p:sp>
        <p:nvSpPr>
          <p:cNvPr id="7" name="Rectangle 28"/>
          <p:cNvSpPr txBox="0"/>
          <p:nvPr/>
        </p:nvSpPr>
        <p:spPr>
          <a:xfrm>
            <a:off x="6477000" y="1619250"/>
            <a:ext cx="1905000" cy="1905000"/>
          </a:xfrm>
          <a:prstGeom prst="heart">
            <a:avLst/>
          </a:prstGeom>
          <a:gradFill>
            <a:gsLst>
              <a:gs pos="0">
                <a:srgbClr val="FBCFE8"/>
              </a:gs>
              <a:gs pos="100000">
                <a:srgbClr val="9D174D"/>
              </a:gs>
            </a:gsLst>
            <a:path path="shape">
              <a:fillToRect l="50000" t="50000" r="50000" b="50000"/>
            </a:path>
          </a:gra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8" name="TextBox 29"/>
          <p:cNvSpPr txBox="1"/>
          <p:nvPr/>
        </p:nvSpPr>
        <p:spPr>
          <a:xfrm>
            <a:off x="62865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path: 'shape' on a heart</a:t>
            </a:r>
          </a:p>
        </p:txBody>
      </p:sp>
      <p:sp>
        <p:nvSpPr>
          <p:cNvPr id="9" name="Rectangle 30"/>
          <p:cNvSpPr txBox="0"/>
          <p:nvPr/>
        </p:nvSpPr>
        <p:spPr>
          <a:xfrm>
            <a:off x="9334500" y="1619250"/>
            <a:ext cx="1905000" cy="1905000"/>
          </a:xfrm>
          <a:prstGeom prst="rect">
            <a:avLst/>
          </a:prstGeom>
          <a:pattFill prst="wdDnDiag">
            <a:fgClr>
              <a:srgbClr val="0EA5E9"/>
            </a:fgClr>
            <a:bgClr>
              <a:srgbClr val="F0F9FF"/>
            </a:bgClr>
          </a:pattFill>
          <a:ln w="9525">
            <a:solidFill>
              <a:srgbClr val="0369A1"/>
            </a:solidFill>
          </a:ln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0" name="TextBox 31"/>
          <p:cNvSpPr txBox="1"/>
          <p:nvPr/>
        </p:nvSpPr>
        <p:spPr>
          <a:xfrm>
            <a:off x="9144000" y="400050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pattern 'wdDnDiag', foreground: '#0EA5E9'</a:t>
            </a:r>
          </a:p>
        </p:txBody>
      </p:sp>
      <p:sp>
        <p:nvSpPr>
          <p:cNvPr id="11" name="Rectangle 32"/>
          <p:cNvSpPr txBox="0"/>
          <p:nvPr/>
        </p:nvSpPr>
        <p:spPr>
          <a:xfrm>
            <a:off x="762000" y="4762500"/>
            <a:ext cx="4762500" cy="1143000"/>
          </a:xfrm>
          <a:prstGeom prst="rect">
            <a:avLst/>
          </a:prstGeom>
          <a:gradFill>
            <a:gsLst>
              <a:gs pos="0">
                <a:srgbClr val="22C55E"/>
              </a:gs>
              <a:gs pos="100000">
                <a:srgbClr val="14532D"/>
              </a:gs>
            </a:gsLst>
            <a:lin ang="0" scaled="1"/>
            <a:tileRect l="0" t="0" r="50000" b="0"/>
          </a:gra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12" name="TextBox 33"/>
          <p:cNvSpPr txBox="1"/>
          <p:nvPr/>
        </p:nvSpPr>
        <p:spPr>
          <a:xfrm>
            <a:off x="5524500" y="5048250"/>
            <a:ext cx="2286000" cy="5715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50" dirty="0">
                <a:solidFill>
                  <a:srgbClr val="374151"/>
                </a:solidFill>
              </a:rPr>
              <a:t>linear gradient with tile: { r: 0.5 } (half-width tile)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194</Words>
  <Application>pptx-viewer-sdk</Application>
  <Paragraphs>18</Paragraphs>
  <Slides>3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styling through the SDK</dc:title>
  <dc:creator>ooxml</dc:creator>
  <cp:lastModifiedBy>ooxml</cp:lastModifiedBy>
  <cp:revision>2</cp:revision>
  <dcterms:created xsi:type="dcterms:W3CDTF">2026-10-27T10:50:25Z</dcterms:created>
  <dcterms:modified xsi:type="dcterms:W3CDTF">2026-10-27T10:50:25Z</dcterms:modified>
</cp:coreProperties>
</file>